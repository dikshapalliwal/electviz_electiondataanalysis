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handoutMasterIdLst>
    <p:handoutMasterId r:id="rId17"/>
  </p:handoutMasterIdLst>
  <p:sldIdLst>
    <p:sldId id="261" r:id="rId3"/>
    <p:sldId id="274" r:id="rId4"/>
    <p:sldId id="257" r:id="rId5"/>
    <p:sldId id="262" r:id="rId7"/>
    <p:sldId id="263" r:id="rId8"/>
    <p:sldId id="264" r:id="rId9"/>
    <p:sldId id="271" r:id="rId10"/>
    <p:sldId id="272" r:id="rId11"/>
    <p:sldId id="265" r:id="rId12"/>
    <p:sldId id="273" r:id="rId13"/>
    <p:sldId id="275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BC89EF96-8CEA-46FF-86C4-4CE0E7609802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6" autoAdjust="0"/>
  </p:normalViewPr>
  <p:slideViewPr>
    <p:cSldViewPr snapToGrid="0" showGuides="1">
      <p:cViewPr varScale="1">
        <p:scale>
          <a:sx n="73" d="100"/>
          <a:sy n="73" d="100"/>
        </p:scale>
        <p:origin x="998" y="9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en-US" dirty="0"/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anose="020B0604020202020204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anose="020B060402020202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705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anose="020B0604020202020204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anose="020B0604020202020204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705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anose="020B0604020202020204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anose="020B0604020202020204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705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anose="020B0604020202020204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anose="020B0604020202020204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7695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ElectViz</a:t>
            </a:r>
            <a:endParaRPr lang="en-US" alt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sym typeface="+mn-ea"/>
              </a:rPr>
              <a:t>Election Data Visualization for Media</a:t>
            </a:r>
            <a:endParaRPr lang="en-US" altLang="en-US" dirty="0">
              <a:sym typeface="+mn-ea"/>
            </a:endParaRPr>
          </a:p>
          <a:p>
            <a:endParaRPr lang="en-US" dirty="0"/>
          </a:p>
        </p:txBody>
      </p:sp>
      <p:sp>
        <p:nvSpPr>
          <p:cNvPr id="4" name="Text Box 3"/>
          <p:cNvSpPr txBox="1"/>
          <p:nvPr/>
        </p:nvSpPr>
        <p:spPr>
          <a:xfrm>
            <a:off x="6010275" y="11239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 b="1" dirty="0">
                <a:sym typeface="+mn-ea"/>
              </a:rPr>
              <a:t>By Diksha Palliwal,</a:t>
            </a:r>
            <a:endParaRPr lang="en-US" altLang="en-US" sz="1600" b="1" dirty="0">
              <a:sym typeface="+mn-ea"/>
            </a:endParaRPr>
          </a:p>
          <a:p>
            <a:r>
              <a:rPr lang="en-US" altLang="en-US" sz="1600" b="1" dirty="0">
                <a:sym typeface="+mn-ea"/>
              </a:rPr>
              <a:t>Under the Guidance of Mentor NITHYASRI. S. J</a:t>
            </a:r>
            <a:r>
              <a:rPr lang="en-US" altLang="en-US" sz="1600" dirty="0">
                <a:sym typeface="+mn-ea"/>
              </a:rPr>
              <a:t>.</a:t>
            </a:r>
            <a:endParaRPr lang="en-US" altLang="en-US" sz="1600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0576" y="483475"/>
            <a:ext cx="5285631" cy="704193"/>
          </a:xfrm>
        </p:spPr>
        <p:txBody>
          <a:bodyPr>
            <a:normAutofit/>
          </a:bodyPr>
          <a:lstStyle/>
          <a:p>
            <a:r>
              <a:rPr lang="en-US" sz="4400" dirty="0"/>
              <a:t>Acknowledgment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9599" y="2268951"/>
            <a:ext cx="9232802" cy="2828567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We would like to express our heartfelt gratitude to: Infosys Springboard Team – for organizing this valuable internship opportunity. Our Mentor – for her continuous support and feedback. My Teammates – for collaboration, encouragement, and insights This internship has been a significant step in our professional growth and technical journey.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ElectViz is an interactive Power BI dashboard designed to analyze Indian election data across multiple years.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insights into party performance, voter turnout, candidate demographics, gender distribution, and election trends at national and state levels.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dynamic filters and visualizations, this dashboard helps in understanding voting patterns, electoral strength of parties, and key factors influencing election outcomes in a simple and data-driven way.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088" y="96348"/>
            <a:ext cx="9601200" cy="1142385"/>
          </a:xfrm>
        </p:spPr>
        <p:txBody>
          <a:bodyPr/>
          <a:lstStyle/>
          <a:p>
            <a:r>
              <a:rPr lang="en-US" dirty="0"/>
              <a:t>System Design – High Level Architecture</a:t>
            </a:r>
            <a:endParaRPr 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30088" y="1726660"/>
            <a:ext cx="11675165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Election datasets (CSV / Excel / Database)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(Data Science Layer)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cleaning, transformation, and feature engineering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(vote share, turnout %, margins, age groups)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Fact–Dimension (Star Schema) model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Enables fast aggregation and filtering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Tool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Power BI for interactive dashboards and analytics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145" y="6901"/>
            <a:ext cx="9601200" cy="1142385"/>
          </a:xfrm>
        </p:spPr>
        <p:txBody>
          <a:bodyPr/>
          <a:lstStyle/>
          <a:p>
            <a:r>
              <a:rPr lang="en-IN" dirty="0"/>
              <a:t>Analytics &amp; Visualization Layer</a:t>
            </a:r>
            <a:endParaRPr lang="en-IN" dirty="0"/>
          </a:p>
        </p:txBody>
      </p:sp>
      <p:sp>
        <p:nvSpPr>
          <p:cNvPr id="9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520144" y="1358973"/>
            <a:ext cx="9915943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 (DAX Measures)</a:t>
            </a:r>
            <a:endParaRPr lang="en-US" alt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400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votes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0005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Seats won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0005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Vote share %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0005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Winning margin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0005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Close contest rate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Components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8605" marR="0" lvl="0" indent="88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KPI cards for key metrics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8605" marR="0" lvl="0" indent="88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Bar &amp; line charts for trends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8605" marR="0" lvl="0" indent="88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Donut charts for distribution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8605" marR="0" lvl="0" indent="88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Maps for state-wise analysis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8605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Interactivity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Year, party, and state slicers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Cross-filtering between visuals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356" y="245439"/>
            <a:ext cx="9601200" cy="1142385"/>
          </a:xfrm>
        </p:spPr>
        <p:txBody>
          <a:bodyPr/>
          <a:lstStyle/>
          <a:p>
            <a:r>
              <a:rPr lang="en-IN" dirty="0"/>
              <a:t>Workflow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78567" y="1981201"/>
            <a:ext cx="9601200" cy="3809999"/>
          </a:xfrm>
        </p:spPr>
        <p:txBody>
          <a:bodyPr>
            <a:normAutofit fontScale="92500" lnSpcReduction="20000"/>
          </a:bodyPr>
          <a:lstStyle/>
          <a:p>
            <a:r>
              <a:rPr lang="en-IN" sz="2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Election Data</a:t>
            </a:r>
            <a:endParaRPr lang="en-IN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Feature Engineering</a:t>
            </a:r>
            <a:endParaRPr lang="en-IN" sz="2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  <a:endParaRPr lang="en-IN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Modelling &amp; DAX Calculations</a:t>
            </a:r>
            <a:endParaRPr lang="en-IN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Power BI Visualizations</a:t>
            </a:r>
            <a:endParaRPr lang="en-IN" sz="2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&amp; Decision Support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356" y="245439"/>
            <a:ext cx="9601200" cy="1142385"/>
          </a:xfrm>
        </p:spPr>
        <p:txBody>
          <a:bodyPr/>
          <a:lstStyle/>
          <a:p>
            <a:r>
              <a:rPr lang="en-IN" dirty="0"/>
              <a:t>Future Enhancements – </a:t>
            </a:r>
            <a:r>
              <a:rPr lang="en-IN" dirty="0" err="1"/>
              <a:t>ElectViz</a:t>
            </a:r>
            <a:r>
              <a:rPr lang="en-IN" dirty="0"/>
              <a:t> Dashboard</a:t>
            </a:r>
            <a:endParaRPr lang="en-US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49356" y="1662938"/>
            <a:ext cx="10247244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Integration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 live election APIs for real-time result updates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machine learning models to forecast election outcomes and voter turnout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Integrate social media and news sentiment to analyze public opinion trends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Drill-Downs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Enable constituency-level and booth-level analysis for deeper insights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Geospatial Enhancements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Add heatmaps and spatial clustering for regional voting patterns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356" y="245439"/>
            <a:ext cx="9601200" cy="1142385"/>
          </a:xfrm>
        </p:spPr>
        <p:txBody>
          <a:bodyPr/>
          <a:lstStyle/>
          <a:p>
            <a:r>
              <a:rPr lang="en-IN" dirty="0"/>
              <a:t>Workflow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78567" y="1981201"/>
            <a:ext cx="9601200" cy="3809999"/>
          </a:xfrm>
        </p:spPr>
        <p:txBody>
          <a:bodyPr>
            <a:normAutofit fontScale="92500" lnSpcReduction="20000"/>
          </a:bodyPr>
          <a:lstStyle/>
          <a:p>
            <a:r>
              <a:rPr lang="en-IN" sz="2200" b="1" dirty="0">
                <a:solidFill>
                  <a:schemeClr val="accent2">
                    <a:lumMod val="50000"/>
                  </a:schemeClr>
                </a:solidFill>
              </a:rPr>
              <a:t>Raw Election Data</a:t>
            </a:r>
            <a:endParaRPr lang="en-IN" b="1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IN" dirty="0"/>
              <a:t>     ↓</a:t>
            </a:r>
            <a:endParaRPr lang="en-IN" dirty="0"/>
          </a:p>
          <a:p>
            <a:r>
              <a:rPr lang="en-IN" sz="2200" b="1" dirty="0">
                <a:solidFill>
                  <a:schemeClr val="accent2">
                    <a:lumMod val="50000"/>
                  </a:schemeClr>
                </a:solidFill>
              </a:rPr>
              <a:t>Data Cleaning &amp; Feature Engineering</a:t>
            </a:r>
            <a:endParaRPr lang="en-IN" sz="22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     ↓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IN" sz="2200" b="1" dirty="0">
                <a:solidFill>
                  <a:schemeClr val="accent2">
                    <a:lumMod val="50000"/>
                  </a:schemeClr>
                </a:solidFill>
              </a:rPr>
              <a:t>Data Modelling &amp; DAX Calculations</a:t>
            </a:r>
            <a:endParaRPr lang="en-IN" b="1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IN" dirty="0"/>
              <a:t>     ↓</a:t>
            </a:r>
            <a:endParaRPr lang="en-IN" dirty="0"/>
          </a:p>
          <a:p>
            <a:r>
              <a:rPr lang="en-IN" sz="2200" b="1" dirty="0">
                <a:solidFill>
                  <a:schemeClr val="accent2">
                    <a:lumMod val="50000"/>
                  </a:schemeClr>
                </a:solidFill>
              </a:rPr>
              <a:t>Interactive Power BI Visualizations</a:t>
            </a:r>
            <a:endParaRPr lang="en-IN" sz="22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IN" dirty="0"/>
              <a:t>     ↓</a:t>
            </a:r>
            <a:endParaRPr lang="en-IN" dirty="0"/>
          </a:p>
          <a:p>
            <a:r>
              <a:rPr lang="en-IN" sz="2200" b="1" dirty="0"/>
              <a:t>Insights &amp; Decision Support</a:t>
            </a:r>
            <a:endParaRPr lang="en-IN" sz="2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015" y="-13283"/>
            <a:ext cx="9485243" cy="1249486"/>
          </a:xfrm>
        </p:spPr>
        <p:txBody>
          <a:bodyPr>
            <a:normAutofit/>
          </a:bodyPr>
          <a:lstStyle/>
          <a:p>
            <a:r>
              <a:rPr lang="en-US" sz="4400" dirty="0"/>
              <a:t>Actual Dashboard</a:t>
            </a:r>
            <a:endParaRPr lang="en-US" sz="4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877" y="1236202"/>
            <a:ext cx="4718792" cy="264366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189" y="1231524"/>
            <a:ext cx="4718793" cy="264833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939" y="4032940"/>
            <a:ext cx="4718792" cy="265565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130" y="4032940"/>
            <a:ext cx="4733504" cy="26483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015" y="-13283"/>
            <a:ext cx="9485243" cy="1249486"/>
          </a:xfrm>
        </p:spPr>
        <p:txBody>
          <a:bodyPr>
            <a:normAutofit/>
          </a:bodyPr>
          <a:lstStyle/>
          <a:p>
            <a:r>
              <a:rPr lang="en-US" sz="4400" dirty="0"/>
              <a:t>Actual Dashboard</a:t>
            </a:r>
            <a:endParaRPr lang="en-US" sz="4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838" y="1345158"/>
            <a:ext cx="4363278" cy="24397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199" y="1333446"/>
            <a:ext cx="4363279" cy="24514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182" y="3974551"/>
            <a:ext cx="4827103" cy="2696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356" y="245439"/>
            <a:ext cx="9601200" cy="1142385"/>
          </a:xfrm>
        </p:spPr>
        <p:txBody>
          <a:bodyPr/>
          <a:lstStyle/>
          <a:p>
            <a:r>
              <a:rPr lang="en-US" dirty="0"/>
              <a:t>Key Insights Gained – ElectViz Dashboard</a:t>
            </a:r>
            <a:endParaRPr 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49355" y="2009769"/>
            <a:ext cx="1010272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major political parties’ performance trends across multiple election years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Observed significant variations in voter turnout across states and regions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Analyzed vote share distribution to understand party dominance and competition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Found demographic patterns such as age and gender influencing election outcomes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Detected closely contested constituencies using winning margin analysis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Highlighted regional strongholds and weak zones for major parties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Revealed long-term electoral trends through year-wise comparative analysis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4640" y="1717040"/>
            <a:ext cx="3656112" cy="1051560"/>
          </a:xfrm>
        </p:spPr>
        <p:txBody>
          <a:bodyPr>
            <a:normAutofit/>
          </a:bodyPr>
          <a:lstStyle/>
          <a:p>
            <a:r>
              <a:rPr lang="en-US" sz="3600" dirty="0"/>
              <a:t>Conclusion</a:t>
            </a:r>
            <a:endParaRPr lang="en-US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ElectViz successfully transforms raw election data into meaningful insights using data science and visualization techniques.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enables clear analysis of party performance, voter behavior, and electoral trends across regions and years.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Power BI visuals make complex data easy to explore and understand.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the effective use of data preprocessing, analytical modeling, and visual storytelling for decision support.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ElectViz can be further enhanced with predictive analytics and real-time data to support advanced electoral analysis.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65440" y="475488"/>
            <a:ext cx="3657600" cy="2194560"/>
          </a:xfrm>
        </p:spPr>
        <p:txBody>
          <a:bodyPr>
            <a:normAutofit/>
          </a:bodyPr>
          <a:lstStyle/>
          <a:p>
            <a:r>
              <a:rPr lang="en-US" sz="3600" dirty="0"/>
              <a:t>Thank You </a:t>
            </a: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0</TotalTime>
  <Words>3730</Words>
  <Application>WPS Presentation</Application>
  <PresentationFormat>Widescreen</PresentationFormat>
  <Paragraphs>113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SimSun</vt:lpstr>
      <vt:lpstr>Wingdings</vt:lpstr>
      <vt:lpstr>Times New Roman</vt:lpstr>
      <vt:lpstr>Microsoft YaHei</vt:lpstr>
      <vt:lpstr>Arial Unicode MS</vt:lpstr>
      <vt:lpstr>Diamond Grid 16x9</vt:lpstr>
      <vt:lpstr>PowerPoint 演示文稿</vt:lpstr>
      <vt:lpstr>Acknowledgment</vt:lpstr>
      <vt:lpstr>Introduction</vt:lpstr>
      <vt:lpstr>System Design – High Level Architecture</vt:lpstr>
      <vt:lpstr>Analytics &amp; Visualization Layer</vt:lpstr>
      <vt:lpstr>Workflow</vt:lpstr>
      <vt:lpstr>Future Enhancements – ElectViz Dashboard</vt:lpstr>
      <vt:lpstr>Workflow</vt:lpstr>
      <vt:lpstr>Actual Dashboard</vt:lpstr>
      <vt:lpstr>Actual Dashboard</vt:lpstr>
      <vt:lpstr>Key Insights Gained – ElectViz Dashboard</vt:lpstr>
      <vt:lpstr>Conclusion</vt:lpstr>
      <vt:lpstr>Thank 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Neha Patil</dc:creator>
  <cp:lastModifiedBy>Diksha Palliwal</cp:lastModifiedBy>
  <cp:revision>4</cp:revision>
  <dcterms:created xsi:type="dcterms:W3CDTF">2026-02-01T07:46:00Z</dcterms:created>
  <dcterms:modified xsi:type="dcterms:W3CDTF">2026-02-10T11:13:04Z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ICV">
    <vt:lpwstr>FFB1D8618F5F4C80A33A74E4ACC1D29E_13</vt:lpwstr>
  </property>
  <property fmtid="{D5CDD505-2E9C-101B-9397-08002B2CF9AE}" pid="9" name="KSOProductBuildVer">
    <vt:lpwstr>1033-12.2.0.23196</vt:lpwstr>
  </property>
</Properties>
</file>